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13f1971b5443f7" /><Relationship Type="http://schemas.openxmlformats.org/officeDocument/2006/relationships/extended-properties" Target="/docProps/app.xml" Id="R3afc1c1fce3a46dc" /><Relationship Type="http://schemas.openxmlformats.org/officeDocument/2006/relationships/officeDocument" Target="/ppt/presentation.xml" Id="Raef7cdc72a5544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59f6e631434eca"/>
  </p:sldMasterIdLst>
  <p:notesMasterIdLst>
    <p:notesMasterId xmlns:r="http://schemas.openxmlformats.org/officeDocument/2006/relationships" r:id="Rc9b48a68556f4201"/>
  </p:notesMasterIdLst>
  <p:sldIdLst>
    <p:sldId xmlns:r="http://schemas.openxmlformats.org/officeDocument/2006/relationships" id="256" r:id="Rac79c4bb823f480d"/>
    <p:sldId xmlns:r="http://schemas.openxmlformats.org/officeDocument/2006/relationships" id="257" r:id="R232c30c82ffe4caf"/>
    <p:sldId xmlns:r="http://schemas.openxmlformats.org/officeDocument/2006/relationships" id="258" r:id="R4eb02e8ced354710"/>
    <p:sldId xmlns:r="http://schemas.openxmlformats.org/officeDocument/2006/relationships" id="259" r:id="Rfb6e850c358c4c11"/>
    <p:sldId xmlns:r="http://schemas.openxmlformats.org/officeDocument/2006/relationships" id="260" r:id="Rc83611c5e5844328"/>
    <p:sldId xmlns:r="http://schemas.openxmlformats.org/officeDocument/2006/relationships" id="261" r:id="Rc9c877d5e7e04f19"/>
    <p:sldId xmlns:r="http://schemas.openxmlformats.org/officeDocument/2006/relationships" id="262" r:id="R21900e7a9b484272"/>
    <p:sldId xmlns:r="http://schemas.openxmlformats.org/officeDocument/2006/relationships" id="263" r:id="R98ec03f739244020"/>
    <p:sldId xmlns:r="http://schemas.openxmlformats.org/officeDocument/2006/relationships" id="264" r:id="R6c3d7219c906430e"/>
    <p:sldId xmlns:r="http://schemas.openxmlformats.org/officeDocument/2006/relationships" id="265" r:id="R9ba4f721c438456f"/>
    <p:sldId xmlns:r="http://schemas.openxmlformats.org/officeDocument/2006/relationships" id="266" r:id="Rd9a94e8ae4094d66"/>
    <p:sldId xmlns:r="http://schemas.openxmlformats.org/officeDocument/2006/relationships" id="267" r:id="R7b8cd32d9ae24d63"/>
    <p:sldId xmlns:r="http://schemas.openxmlformats.org/officeDocument/2006/relationships" id="268" r:id="Ra3bca46facb946f5"/>
    <p:sldId xmlns:r="http://schemas.openxmlformats.org/officeDocument/2006/relationships" id="269" r:id="R30c309792ce640eb"/>
    <p:sldId xmlns:r="http://schemas.openxmlformats.org/officeDocument/2006/relationships" id="270" r:id="R404e35769d814dcf"/>
    <p:sldId xmlns:r="http://schemas.openxmlformats.org/officeDocument/2006/relationships" id="271" r:id="R4b930927862d44a1"/>
    <p:sldId xmlns:r="http://schemas.openxmlformats.org/officeDocument/2006/relationships" id="272" r:id="R73af6d5c398349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b65bbd55a44f5" /><Relationship Type="http://schemas.openxmlformats.org/officeDocument/2006/relationships/slideMaster" Target="/ppt/slideMasters/slideMaster1.xml" Id="Rb459f6e631434eca" /><Relationship Type="http://schemas.openxmlformats.org/officeDocument/2006/relationships/notesMaster" Target="/ppt/notesMasters/notesMaster1.xml" Id="Rc9b48a68556f4201" /><Relationship Type="http://schemas.openxmlformats.org/officeDocument/2006/relationships/presProps" Target="/ppt/presProps.xml" Id="Re78ce2eb84c74bbb" /><Relationship Type="http://schemas.openxmlformats.org/officeDocument/2006/relationships/tableStyles" Target="/ppt/tableStyles.xml" Id="Rc0c52923055e48d4" /><Relationship Type="http://schemas.openxmlformats.org/officeDocument/2006/relationships/slide" Target="/ppt/slides/slide1.xml" Id="Rac79c4bb823f480d" /><Relationship Type="http://schemas.openxmlformats.org/officeDocument/2006/relationships/slide" Target="/ppt/slides/slide2.xml" Id="R232c30c82ffe4caf" /><Relationship Type="http://schemas.openxmlformats.org/officeDocument/2006/relationships/slide" Target="/ppt/slides/slide3.xml" Id="R4eb02e8ced354710" /><Relationship Type="http://schemas.openxmlformats.org/officeDocument/2006/relationships/slide" Target="/ppt/slides/slide4.xml" Id="Rfb6e850c358c4c11" /><Relationship Type="http://schemas.openxmlformats.org/officeDocument/2006/relationships/slide" Target="/ppt/slides/slide5.xml" Id="Rc83611c5e5844328" /><Relationship Type="http://schemas.openxmlformats.org/officeDocument/2006/relationships/slide" Target="/ppt/slides/slide6.xml" Id="Rc9c877d5e7e04f19" /><Relationship Type="http://schemas.openxmlformats.org/officeDocument/2006/relationships/slide" Target="/ppt/slides/slide7.xml" Id="R21900e7a9b484272" /><Relationship Type="http://schemas.openxmlformats.org/officeDocument/2006/relationships/slide" Target="/ppt/slides/slide8.xml" Id="R98ec03f739244020" /><Relationship Type="http://schemas.openxmlformats.org/officeDocument/2006/relationships/slide" Target="/ppt/slides/slide9.xml" Id="R6c3d7219c906430e" /><Relationship Type="http://schemas.openxmlformats.org/officeDocument/2006/relationships/slide" Target="/ppt/slides/slide10.xml" Id="R9ba4f721c438456f" /><Relationship Type="http://schemas.openxmlformats.org/officeDocument/2006/relationships/slide" Target="/ppt/slides/slide11.xml" Id="Rd9a94e8ae4094d66" /><Relationship Type="http://schemas.openxmlformats.org/officeDocument/2006/relationships/slide" Target="/ppt/slides/slide12.xml" Id="R7b8cd32d9ae24d63" /><Relationship Type="http://schemas.openxmlformats.org/officeDocument/2006/relationships/slide" Target="/ppt/slides/slide13.xml" Id="Ra3bca46facb946f5" /><Relationship Type="http://schemas.openxmlformats.org/officeDocument/2006/relationships/slide" Target="/ppt/slides/slide14.xml" Id="R30c309792ce640eb" /><Relationship Type="http://schemas.openxmlformats.org/officeDocument/2006/relationships/slide" Target="/ppt/slides/slide15.xml" Id="R404e35769d814dcf" /><Relationship Type="http://schemas.openxmlformats.org/officeDocument/2006/relationships/slide" Target="/ppt/slides/slide16.xml" Id="R4b930927862d44a1" /><Relationship Type="http://schemas.openxmlformats.org/officeDocument/2006/relationships/slide" Target="/ppt/slides/slide17.xml" Id="R73af6d5c3983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8c7fbeca1a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iberseguridad U1">
      <a:dk1>
        <a:srgbClr val="000000"/>
      </a:dk1>
      <a:lt1>
        <a:srgbClr val="FFFFFF"/>
      </a:lt1>
      <a:dk2>
        <a:srgbClr val="07145F"/>
      </a:dk2>
      <a:lt2>
        <a:srgbClr val="DCE4ED"/>
      </a:lt2>
      <a:accent1>
        <a:srgbClr val="087DA5"/>
      </a:accent1>
      <a:accent2>
        <a:srgbClr val="0969BA"/>
      </a:accent2>
      <a:accent3>
        <a:srgbClr val="F2A900"/>
      </a:accent3>
      <a:accent4>
        <a:srgbClr val="B42318"/>
      </a:accent4>
      <a:accent5>
        <a:srgbClr val="18794E"/>
      </a:accent5>
      <a:accent6>
        <a:srgbClr val="6941C6"/>
      </a:accent6>
      <a:hlink>
        <a:srgbClr val="0969BA"/>
      </a:hlink>
      <a:folHlink>
        <a:srgbClr val="6941C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iberseguridad U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2b2c40532a4c41" /><Relationship Type="http://schemas.openxmlformats.org/officeDocument/2006/relationships/notesMaster" Target="/ppt/notesMasters/notesMaster1.xml" Id="R24c845041c90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71edf658924dec" /><Relationship Type="http://schemas.openxmlformats.org/officeDocument/2006/relationships/notesMaster" Target="/ppt/notesMasters/notesMaster1.xml" Id="R2190109b86a342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047d91a69c4819" /><Relationship Type="http://schemas.openxmlformats.org/officeDocument/2006/relationships/notesMaster" Target="/ppt/notesMasters/notesMaster1.xml" Id="R0ceaa281b1834d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4db49b43c54254" /><Relationship Type="http://schemas.openxmlformats.org/officeDocument/2006/relationships/notesMaster" Target="/ppt/notesMasters/notesMaster1.xml" Id="R005b537a7fbb46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86963495fb49c0" /><Relationship Type="http://schemas.openxmlformats.org/officeDocument/2006/relationships/notesMaster" Target="/ppt/notesMasters/notesMaster1.xml" Id="Rdc5ff6714f0847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1de5930ea2415d" /><Relationship Type="http://schemas.openxmlformats.org/officeDocument/2006/relationships/notesMaster" Target="/ppt/notesMasters/notesMaster1.xml" Id="R67760589618c4b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bcf49be06649e9" /><Relationship Type="http://schemas.openxmlformats.org/officeDocument/2006/relationships/notesMaster" Target="/ppt/notesMasters/notesMaster1.xml" Id="R8eae46f735514c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9c4041b8da47b2" /><Relationship Type="http://schemas.openxmlformats.org/officeDocument/2006/relationships/notesMaster" Target="/ppt/notesMasters/notesMaster1.xml" Id="R1c4c1fd5c80b43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c8852db164e23" /><Relationship Type="http://schemas.openxmlformats.org/officeDocument/2006/relationships/notesMaster" Target="/ppt/notesMasters/notesMaster1.xml" Id="R6941ff10d79c47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3e93476e09425b" /><Relationship Type="http://schemas.openxmlformats.org/officeDocument/2006/relationships/notesMaster" Target="/ppt/notesMasters/notesMaster1.xml" Id="Rc47e63bacefc45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2d682ad8594c4d" /><Relationship Type="http://schemas.openxmlformats.org/officeDocument/2006/relationships/notesMaster" Target="/ppt/notesMasters/notesMaster1.xml" Id="Rec7c31364b3145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6f3babe5b64b8e" /><Relationship Type="http://schemas.openxmlformats.org/officeDocument/2006/relationships/notesMaster" Target="/ppt/notesMasters/notesMaster1.xml" Id="R9309724787d94d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e3dc9fe633406b" /><Relationship Type="http://schemas.openxmlformats.org/officeDocument/2006/relationships/notesMaster" Target="/ppt/notesMasters/notesMaster1.xml" Id="R7df767ae725f4a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2ad09561ec4871" /><Relationship Type="http://schemas.openxmlformats.org/officeDocument/2006/relationships/notesMaster" Target="/ppt/notesMasters/notesMaster1.xml" Id="Rce266cdf786d45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f708bc97824925" /><Relationship Type="http://schemas.openxmlformats.org/officeDocument/2006/relationships/notesMaster" Target="/ppt/notesMasters/notesMaster1.xml" Id="Re6e6c3af074544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27eb1613b7437e" /><Relationship Type="http://schemas.openxmlformats.org/officeDocument/2006/relationships/notesMaster" Target="/ppt/notesMasters/notesMaster1.xml" Id="R8d2bd24445734e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4fd7ec4f5b47ce" /><Relationship Type="http://schemas.openxmlformats.org/officeDocument/2006/relationships/notesMaster" Target="/ppt/notesMasters/notesMaster1.xml" Id="R99d3623914904d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a937ee7424f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5a6a0c559480b" /><Relationship Type="http://schemas.openxmlformats.org/officeDocument/2006/relationships/slideLayout" Target="/ppt/slideLayouts/slideLayout1.xml" Id="Rb7e77a9dc213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e77a9dc213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iberseguridad U1">
      <a:dk1>
        <a:srgbClr val="000000"/>
      </a:dk1>
      <a:lt1>
        <a:srgbClr val="FFFFFF"/>
      </a:lt1>
      <a:dk2>
        <a:srgbClr val="07145F"/>
      </a:dk2>
      <a:lt2>
        <a:srgbClr val="DCE4ED"/>
      </a:lt2>
      <a:accent1>
        <a:srgbClr val="087DA5"/>
      </a:accent1>
      <a:accent2>
        <a:srgbClr val="0969BA"/>
      </a:accent2>
      <a:accent3>
        <a:srgbClr val="F2A900"/>
      </a:accent3>
      <a:accent4>
        <a:srgbClr val="B42318"/>
      </a:accent4>
      <a:accent5>
        <a:srgbClr val="18794E"/>
      </a:accent5>
      <a:accent6>
        <a:srgbClr val="6941C6"/>
      </a:accent6>
      <a:hlink>
        <a:srgbClr val="0969BA"/>
      </a:hlink>
      <a:folHlink>
        <a:srgbClr val="6941C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iberseguridad U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a612f73d1446c" /><Relationship Type="http://schemas.openxmlformats.org/officeDocument/2006/relationships/image" Target="/ppt/media/image.png" Id="R85aff870d3c947e0" /><Relationship Type="http://schemas.openxmlformats.org/officeDocument/2006/relationships/image" Target="/ppt/media/image2.png" Id="R5103af153b5d4bbd" /><Relationship Type="http://schemas.openxmlformats.org/officeDocument/2006/relationships/notesSlide" Target="/ppt/notesSlides/notesSlide1.xml" Id="R871068d61d2748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34921e5ca4a5d" /><Relationship Type="http://schemas.openxmlformats.org/officeDocument/2006/relationships/image" Target="/ppt/media/image3.png" Id="R3769c45698454368" /><Relationship Type="http://schemas.openxmlformats.org/officeDocument/2006/relationships/notesSlide" Target="/ppt/notesSlides/notesSlide2.xml" Id="Rcc1695c01df644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d69924b964e84" /><Relationship Type="http://schemas.openxmlformats.org/officeDocument/2006/relationships/image" Target="/ppt/media/image4.png" Id="Re0259b278a274f6a" /><Relationship Type="http://schemas.openxmlformats.org/officeDocument/2006/relationships/image" Target="/ppt/media/image5.png" Id="R395000af818448b8" /><Relationship Type="http://schemas.openxmlformats.org/officeDocument/2006/relationships/notesSlide" Target="/ppt/notesSlides/notesSlide3.xml" Id="R75efdec5886941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ef61192bd4bf4" /><Relationship Type="http://schemas.openxmlformats.org/officeDocument/2006/relationships/image" Target="/ppt/media/image6.png" Id="R6051bf1121124297" /><Relationship Type="http://schemas.openxmlformats.org/officeDocument/2006/relationships/notesSlide" Target="/ppt/notesSlides/notesSlide4.xml" Id="R919e79900cc94f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5c6368b6f4a64" /><Relationship Type="http://schemas.openxmlformats.org/officeDocument/2006/relationships/image" Target="/ppt/media/image7.png" Id="Rd7448511dcb14910" /><Relationship Type="http://schemas.openxmlformats.org/officeDocument/2006/relationships/notesSlide" Target="/ppt/notesSlides/notesSlide5.xml" Id="R24edff741f3847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bc1c40cf149ec" /><Relationship Type="http://schemas.openxmlformats.org/officeDocument/2006/relationships/image" Target="/ppt/media/image8.png" Id="R692f7360d7ce410f" /><Relationship Type="http://schemas.openxmlformats.org/officeDocument/2006/relationships/notesSlide" Target="/ppt/notesSlides/notesSlide6.xml" Id="Ra5596b8c291d4f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31e61f95741c8" /><Relationship Type="http://schemas.openxmlformats.org/officeDocument/2006/relationships/image" Target="/ppt/media/image9.png" Id="Ra7dfc9d1d7594d88" /><Relationship Type="http://schemas.openxmlformats.org/officeDocument/2006/relationships/notesSlide" Target="/ppt/notesSlides/notesSlide7.xml" Id="Rc75d26fe8e1c44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19c15300a4361" /><Relationship Type="http://schemas.openxmlformats.org/officeDocument/2006/relationships/image" Target="/ppt/media/image10.png" Id="Rb299c2e497384b49" /><Relationship Type="http://schemas.openxmlformats.org/officeDocument/2006/relationships/notesSlide" Target="/ppt/notesSlides/notesSlide8.xml" Id="Rd86f1c0a38dd47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8b2bb9ba6445a" /><Relationship Type="http://schemas.openxmlformats.org/officeDocument/2006/relationships/image" Target="/ppt/media/image11.png" Id="Reaa756f51709455e" /><Relationship Type="http://schemas.openxmlformats.org/officeDocument/2006/relationships/image" Target="/ppt/media/image12.png" Id="R8d80caac7953471e" /><Relationship Type="http://schemas.openxmlformats.org/officeDocument/2006/relationships/notesSlide" Target="/ppt/notesSlides/notesSlide9.xml" Id="R5a9e0603527643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0e3afc4614720" /><Relationship Type="http://schemas.openxmlformats.org/officeDocument/2006/relationships/image" Target="/ppt/media/image13.png" Id="R9197543c0478417d" /><Relationship Type="http://schemas.openxmlformats.org/officeDocument/2006/relationships/notesSlide" Target="/ppt/notesSlides/notesSlide10.xml" Id="Rde321a50bce547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c5b0907ec4310" /><Relationship Type="http://schemas.openxmlformats.org/officeDocument/2006/relationships/image" Target="/ppt/media/image14.png" Id="R43b9de86fa204901" /><Relationship Type="http://schemas.openxmlformats.org/officeDocument/2006/relationships/notesSlide" Target="/ppt/notesSlides/notesSlide11.xml" Id="R3e809415e29c4c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689d959dc4509" /><Relationship Type="http://schemas.openxmlformats.org/officeDocument/2006/relationships/image" Target="/ppt/media/image15.png" Id="Rdce51844ee214560" /><Relationship Type="http://schemas.openxmlformats.org/officeDocument/2006/relationships/image" Target="/ppt/media/image16.png" Id="R4c13f89e7ea74be9" /><Relationship Type="http://schemas.openxmlformats.org/officeDocument/2006/relationships/notesSlide" Target="/ppt/notesSlides/notesSlide12.xml" Id="R92f0c7f5fbaf4b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0179d6e784b22" /><Relationship Type="http://schemas.openxmlformats.org/officeDocument/2006/relationships/image" Target="/ppt/media/image17.png" Id="R68b4dcfefc1342b0" /><Relationship Type="http://schemas.openxmlformats.org/officeDocument/2006/relationships/image" Target="/ppt/media/image18.png" Id="Rc0bf9588db034c11" /><Relationship Type="http://schemas.openxmlformats.org/officeDocument/2006/relationships/notesSlide" Target="/ppt/notesSlides/notesSlide13.xml" Id="Rc494c852504942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fba57fefd4d61" /><Relationship Type="http://schemas.openxmlformats.org/officeDocument/2006/relationships/image" Target="/ppt/media/image19.png" Id="Rc615fc710ccc4c8e" /><Relationship Type="http://schemas.openxmlformats.org/officeDocument/2006/relationships/notesSlide" Target="/ppt/notesSlides/notesSlide14.xml" Id="Rc5354e2edde843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e624641f54ee5" /><Relationship Type="http://schemas.openxmlformats.org/officeDocument/2006/relationships/image" Target="/ppt/media/image20.png" Id="Rb770d06448c1441c" /><Relationship Type="http://schemas.openxmlformats.org/officeDocument/2006/relationships/notesSlide" Target="/ppt/notesSlides/notesSlide15.xml" Id="Rffacb6507cbd40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2ae5af4f74c2a" /><Relationship Type="http://schemas.openxmlformats.org/officeDocument/2006/relationships/image" Target="/ppt/media/image21.png" Id="R1accc837a23842dd" /><Relationship Type="http://schemas.openxmlformats.org/officeDocument/2006/relationships/notesSlide" Target="/ppt/notesSlides/notesSlide16.xml" Id="Rf806b64107144e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33a330bd54361" /><Relationship Type="http://schemas.openxmlformats.org/officeDocument/2006/relationships/image" Target="/ppt/media/image22.png" Id="R25a98bfe588141f7" /><Relationship Type="http://schemas.openxmlformats.org/officeDocument/2006/relationships/notesSlide" Target="/ppt/notesSlides/notesSlide17.xml" Id="R427f3586a12d40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0065A-BC71-4C94-BB16-571FA0A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45F"/>
              </a:gs>
              <a:gs pos="100000">
                <a:srgbClr val="087DA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ff870d3c947e0"/>
          <a:stretch xmlns:a="http://schemas.openxmlformats.org/drawingml/2006/main"/>
        </p:blipFill>
        <p:spPr>
          <a:xfrm xmlns:a="http://schemas.openxmlformats.org/drawingml/2006/main">
            <a:off x="7810500" y="2271280"/>
            <a:ext cx="2952750" cy="1610591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4C578-CF1D-426E-827A-8BA6E58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"/>
            <a:ext cx="3124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3af153b5d4bbd"/>
          <a:stretch xmlns:a="http://schemas.openxmlformats.org/drawingml/2006/main"/>
        </p:blipFill>
        <p:spPr>
          <a:xfrm xmlns:a="http://schemas.openxmlformats.org/drawingml/2006/main">
            <a:off x="8874767" y="342900"/>
            <a:ext cx="1871965" cy="647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8E1ED-6F9D-4A50-89FD-971A88B6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8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F4FF"/>
                </a:solidFill>
                <a:latin typeface="Aptos Display"/>
                <a:ea typeface="Aptos Display"/>
                <a:cs typeface="Aptos Display"/>
              </a:rPr>
              <a:t>Unidad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49ECA-4ECE-4CCB-99E7-87E6AC1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F4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F4FF"/>
                </a:solidFill>
                <a:latin typeface="Aptos"/>
                <a:ea typeface="Aptos"/>
                <a:cs typeface="Aptos"/>
              </a:rPr>
              <a:t>Fundamentos y ciberhigiene personal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1BCB3-07FB-4298-8282-9CB46685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Presentacion de apoyo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OVA 1 y OVA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46710-99C0-4763-ACF6-0321E6C1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ECFE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CFEFF"/>
                </a:solidFill>
                <a:latin typeface="Aptos"/>
                <a:ea typeface="Aptos"/>
                <a:cs typeface="Aptos"/>
              </a:rPr>
              <a:t>Introduccion a la ciberseguridad, amenazas comunes, proteccion de cuentas, contrasenas, correo, redes sociales y navegacion segura.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42C1-2599-4E88-A24F-A51758F2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6096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FB6F0-0084-4F59-BBA9-65B191E7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Curso interactivo de formacion en ciberseguridad</a:t>
            </a:r>
          </a:p>
        </p:txBody>
      </p:sp>
    </p:spTree>
    <p:extLst>
      <p:ext uri="{BB962C8B-B14F-4D97-AF65-F5344CB8AC3E}">
        <p14:creationId xmlns:p14="http://schemas.microsoft.com/office/powerpoint/2010/main" val="477737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7161D-58AB-4B21-9961-4B4F00DE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215D5-FF2D-470A-8509-8D7ED0C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9c45698454368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E69E0-5A39-4BF2-80C1-77341B81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03C36-6923-4AE0-B51D-72C5320F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Ruta de aprendizaje: OVA 1 + OVA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D71B3-D925-40A8-891A-F98A38D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La Unidad 1 avanza de reconocer riesgos a aplicar habitos concretos de proteccion.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0194-A19F-4738-B612-AE88D3BF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130AD-21F8-4C71-B486-8F5EA677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A63C2-4A45-418D-B118-4D25912E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OVA 1 | Fundamentos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AE62B-CBE8-4A75-AA94-5CAEE5BE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46101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Por que la ciberseguridad es una habilidad de vida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Tríada CIA en lenguaje ciudadano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Amenazas comunes: phishing, smishing, vishing, malware, ransomware, suplantacion y WiFi trampa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Mapa ciudadano: identificar, proteger, detectar, responder y recuperar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439B4-9F4E-4CC5-B34E-0FCDD9B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3996C-58C6-4E7D-8B4E-5FCC106E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50A05-E9C7-41DE-996F-64CA372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OVA 2 | Cuentas y navegacion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C41CE-C189-442C-899A-A130BAC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6101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Correo principal como puerta de entrada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Contrasenas largas, unicas y gestores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MFA, passkeys y codigos de verificacion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Correo, redes sociales, dominios falsos, permisos de apps y auditoria express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567E0-82DA-4C89-A0B9-4490178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3BE03-5FCF-414C-A3AA-90B0E3DB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6951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7ACCD-1857-4A6A-8D06-D7797139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DB939-4DE6-449B-9AE9-0BF8BC8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59b278a274f6a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1FA1F-79A8-45BB-963E-08575C7C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68D1E-B6DC-4085-B9E6-D9035F9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La ciberseguridad como habilidad de vida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21A23-90C1-4652-8AA9-CC83412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No es solo un tema tecnico: protege dinero, identidad, informacion, recuerdos y tranquilidad.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000af818448b8"/>
          <a:stretch xmlns:a="http://schemas.openxmlformats.org/drawingml/2006/main"/>
        </p:blipFill>
        <p:spPr>
          <a:xfrm xmlns:a="http://schemas.openxmlformats.org/drawingml/2006/main">
            <a:off x="7962900" y="1619250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02C8A-7E81-43FF-BC18-0D87A19F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2865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AE59A-2450-411F-99B8-DC2B0B34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2734F-E34F-4FAD-A94E-57F87373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596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Idea central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FDCD6-DE91-43EE-9619-95483311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5943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Cualquier persona que use celular, correo, redes, banca digital o tiendas en linea necesita seguridad basica.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La mayoria de ataques empieza con un mensaje convincente, una clave reutilizada o una decision tomada con prisa.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La meta no es vivir con miedo: es detenerse, observar y verificar antes de actuar.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33C75-B6C8-4BC9-9CAA-AAF351C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381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656EC-9B7D-4D0A-8512-1806FFE5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E8599-0E2D-40EB-8D28-ABD0FA9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Protege lo que tienes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31215-2178-4F3D-95F8-A2B88310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Dispositivos, archivos, fotos y dinero.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428CB-F0A2-4C09-A0E6-CBA4ADF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2381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2F473-B891-4100-96DD-1F7D958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C9673-1451-4A85-89E2-F3F10DBB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38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Protege lo que sabes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13A7C-540D-42FC-9ADC-A4DADD1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81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Claves, codigos, preguntas y datos personales.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28B8B-7C38-4B1D-A227-B772AB5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2381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425E3-7C5C-4A37-AD15-FDC9075C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D76DB-D08B-439C-8DB1-11D654FF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38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Protege quien eres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C2492-F430-4FED-86A6-5C748E3B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Identidad, reputacion y presencia digital.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AC3C1-9F63-4307-B435-9098719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832BB-0B90-4DDE-9AB7-4A95926C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3749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B65051-F67C-45AB-A8D8-F3A9599E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9237-7E85-4D75-B3C3-8540ED6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1bf1121124297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B52BD-DC70-4ABE-9DFA-F7AA1D60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C4293-DB05-4D0F-B625-BFE3924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Triada CIA en lenguaje ciudadano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06EC0-BB08-4A4F-B1F6-443FBB0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Tres principios para entender que se protege cuando hablamos de seguridad de la informacion.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9F8EA-252C-4489-9203-72C60D28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95C62-7934-4A19-8FA8-D32B67C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92A1-4340-425A-A2FC-D627227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Confidencialidad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695BC-4780-40BE-B2BF-7B5EDCF5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800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Solo personas autorizadas pueden ver la informacion. Ejemplo: tu clave bancaria no debe ser conocida por nadie mas.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5C684-7716-4A04-AB28-0D9C415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5103F-5BB9-4FE0-BB5F-25C1A350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C811E-B4E4-471C-9792-91542A66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621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Integridad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0E913-1469-4D9B-8B3F-FA0A21C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05050"/>
            <a:ext cx="2800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La informacion permanece correcta y no se altera sin permiso. Ejemplo: que el valor de una transferencia no cambie.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00A2E-0682-40D6-A488-7C8E272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B4C06-BFFE-4986-B8AB-FCEAFF2E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4EFEB-94C7-4442-AD85-66B942B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Disponibilidad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CB60C-E173-40DD-BF12-098D691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2800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Puedes acceder a tus datos y servicios cuando los necesitas. Ejemplo: recuperar archivos o entrar a tu correo.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CCCDA-CBE7-4BEB-A82D-C6CE70C9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334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7E3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EF979-E86B-402B-8DE7-CFFFDBAF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Ejemplo: si alguien entra a tu correo, puede leer informacion privada, modificar configuraciones y dejarte sin acceso. Un solo incidente puede afectar los tres pilares.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FE73D-8B06-4004-9517-237DE4AB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36476-4A6F-44D2-94B0-867AA7D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2591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A724C-3B8F-4EFB-BC9F-353F08E3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341FC-292C-4360-BEE1-439F08B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48511dcb14910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3F3BA-C6D1-4C8A-8A72-3CF3B18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187EE-11DA-4DAE-B377-0546226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Amenazas comunes que deben reconocerse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9E015-13AA-4622-851A-21994C40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Los canales cambian, pero los patrones se repiten: urgencia, miedo, autoridad falsa, enlaces extranos y solicitudes de codigos.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2C70A-FBC0-44B8-A837-E849EA4B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C2C72-4514-4134-AEDB-4710ADEE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5A6DC-58FA-4038-8ED4-F546A33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Phishing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E2682-B485-434F-92B9-D55168E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Mensaje o sitio falso para robar datos.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819E0-1D25-4826-AF68-55517045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02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C2796-3215-4895-97F2-E7D022CC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0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8AD78-AA6E-4433-B07D-844115D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526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Smishing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CCE5A-7639-4573-A37E-63A1CC0E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Phishing por SMS o mensajeria.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DEE38-2CD8-45CA-BAD0-DDEA5AFB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055B-78AA-42B3-AA44-603333F9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AFC6E-AA25-4CF5-9A2D-B982DCD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Vishing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87352-0B9D-47EC-9488-AA4D0CE9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Fraude mediante llamada telefonica.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A0918-B0D5-47B4-906C-65E9A2AB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BCF86-7740-47C5-BD71-65F63FE7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79DD5-08B9-4DD1-AA7F-96A55505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Ingenieria social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C70A5-48CC-41D3-9F67-FC033BE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Manipulacion por urgencia, miedo o confianza falsa.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A0F057-D434-4773-98A1-2447A747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6BC18-43D2-4E8F-B5DF-29074B7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397A4-5715-497F-A4FE-C4DA5C52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Malware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E03B1-00AF-40E1-B592-89958A4A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Software para espiar, danar o tomar control.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DC893-94A5-457B-9995-66298F63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6C47DA-53C6-41A1-ABCF-D41599B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9A8CE-E716-4DB6-9CBA-123631C6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Ransomware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82FC9-120C-426F-983C-B2FF85F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Bloqueo de archivos a cambio de pago.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51A24B-41A3-427C-8A0A-B86E319E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141E97-BE80-4580-9BDC-AB8D2CA9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E692B-FA6E-4497-BCE0-3415EA73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Suplantacion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F4EAB-7DEE-4735-8601-6E3B5529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Alguien actua como otra persona o entidad.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9CF840-A321-4CB4-96B3-4606A113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685F9A-2465-4AB2-A739-4015207F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34CF7D-2837-4B7C-AF99-3556DFD9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WiFi trampa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1F6B4B-487A-488D-8F6D-78E4A61D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101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Red falsa o insegura para interceptar datos.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815DAF-EAA4-493B-A73C-4F6F17C2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3333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5DE3AC-3C15-4168-B26B-6493BA8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3CBC66-88C4-4413-80F0-E33ECB87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Fraude en compras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16E017-E1B5-4134-A45C-3125774E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Tiendas, ofertas o vendedores falsos.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C4EA1-10EA-4EE0-A58B-69C379BB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57EBDD-63FF-4A59-A6EB-09E5BCBA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6376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E1B41-60E8-442C-BB94-0C534E60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0F58A-A798-40E4-A5F9-C8282816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f7360d7ce410f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678EC-93F7-4242-B078-76A2351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2ADE3-0C61-4341-84FB-877949C8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Caso OVA 1: fraude bancario por WhatsApp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2D8DB-20C5-4B5C-B872-BE993389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Simulacion educativa: un mensaje convincente convierte el miedo en accion rapida.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87FC6-035B-44AD-81E7-BFC8AEA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429000" cy="4476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8F7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AE44F-653F-4DA8-AEF8-BC551D60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Bancolombia Fraudes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+57 318 000 4412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9B2AF-4F4C-4319-AA04-382FA3E8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476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AB2FC-3B70-4F38-BA52-A84F9BAB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Alerta: compra por $1.200.000 desde Mexico. Responda SI o NO.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0445A-4435-4A52-83F9-51983094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29000"/>
            <a:ext cx="13525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62A7F-BB1B-4730-B25C-75FAF0CE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24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D2CDA-C16E-46EA-8215-2186029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571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2E084-9759-4375-BE98-86F55C06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Para anular, envie el codigo SMS y entre al enlace de verificacion.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05706-C3AC-40C3-8F12-E1E2329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3830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68D4C-64AF-49DC-A031-15E96862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3E819-C1F0-426A-B46E-BD58B584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90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Senales de alerta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2608E-1897-4B80-8025-1056C04B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2800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Numero desconocido y autoridad falsa.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Urgencia artificial para evitar pensar.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Solicitud de codigo SMS.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Enlace externo que imita al banco.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92A87-A9BD-449E-A378-D466440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F7D18-52F3-4133-994B-33EF8D73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5E969-59FA-434A-934E-3079D76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Decision segura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9236D-50F1-4EC8-8487-5255C906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800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No entregar codigos.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Cerrar la conversacion.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Llamar al banco por canal oficial.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Guardar evidencia si hubo intento de fraude.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3FC14-A4A5-4104-B183-ABBCCE9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666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solidFill>
              <a:srgbClr val="F5C1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BFBA5-B1DB-420F-A776-445DCE0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95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Mensaje pedagogico: un codigo de verificacion no cancela una compra; puede autorizar acceso o transaccion.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DB926-4AFD-4D9C-8BB4-45C099E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C5ED1-BF37-4D49-8E91-2468F1B4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4107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A36EA-FA19-4467-B94A-8453FD6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5FEC7-C06B-4B06-9ED4-84B10CF5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fc9d1d7594d88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05F99-91B4-449E-9623-3BFDD2C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E2E91-414C-44E7-B4F6-9E98EDA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Mapa ciudadano de proteccion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778B4-5163-4DEB-AC75-A87CC1A6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Inspirado en NIST CSF: llevar la seguridad a decisiones practicas del dia a 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546AA-8300-46B2-BCD6-A4A82B9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7FEE7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0D437-4291-4F2D-A252-CD93F43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2A90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A90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A3303-CB13-4FDF-9DE1-F5FC68D6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Gobernar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20827-63DA-48A3-BF18-E44CDC26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Definir reglas personales.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64818-6508-45EC-80B6-FC3109B9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479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A497B-BA1E-4611-8D73-B5CD7077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85D63-2EDD-4433-846E-D847F3D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0F126-6ED5-4AAA-BB10-6715B54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Identificar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E8A87-D177-4587-ADAD-6D42200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Que cuentas y datos valen mas?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D4A92-E581-458B-910E-9911B12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479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45EA6-DD08-4FE5-980D-D6E337D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2F5F3-9543-4778-91B8-C96435F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1FD8F-F4D2-4EA1-A596-B9DB6345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Proteger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274EC-75DA-4E7D-888E-C4FD241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Claves, MFA, actualizaciones y copias.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C40F4-7C99-4F3A-B018-CDA97FB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479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4EB38-2342-49C4-ACE4-AD5F3834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C191B-D4B6-42FF-8FCC-CCC8ACD9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A2263-953B-491F-9365-23A46465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Detectar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9FAAA-9BDB-43A5-83FF-06747355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Alertas, accesos raros y movimientos.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79F59-E2DD-4EFC-96FE-9CCD94DE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5C8FD-F8AD-473F-A94F-430A14AD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83AF7-8F0A-41CC-93F8-0B841A86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8358B-166D-4669-8EE7-044A4F06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Responder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2D5704-05AA-46F4-BC1C-B61DA25E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Bloquear, cambiar, reportar y documentar.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4F9AE-4B08-4EA5-9685-E273BB4F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495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9BD6E9-855C-4F29-BAE4-F507F131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9608B-C4A4-41FE-854B-FB060AD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F10490-AEB3-4D3B-A6FA-5EC34791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Recuperar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4A253A-57E8-47B4-8E68-BE46A46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Restaurar acceso, archivos y habitos.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9FDF2-DE1F-4A89-8695-7BC87DE6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8858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451895-8FAE-40D0-A480-038760EE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61C56A-EF82-4518-B273-ABBD1A5F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29150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Ejemplo ciudadano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CE3D04-A338-437D-867F-BA966C64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72050"/>
            <a:ext cx="851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Identifico correo, WhatsApp, banco y fotos como activos; activo MFA; reviso alertas; reporto por canales oficiales; recupero accesos y mejoro habitos.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85EE89-3C19-4287-BBA1-E480949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EF862-CD96-47B1-8CF6-ACB0190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253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60C4B-4D3C-4B78-9ADE-68CC9C42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71B80-18A2-4962-974B-2A45DE6E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9c2e497384b49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C56BB-7E21-437F-84F1-8361B8B4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4851F-A176-40D2-A337-6CA3E414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OVA 1: actividades y evaluacion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31EC9-69A2-49D8-AEB1-C8CC615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La leccion combina caso, inventario personal y preguntas de aplicacion.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BAC81-550C-4AB0-BC4C-57A66904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7BCCA-1EE0-4E4D-9C8E-75DFA093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E2EDE-4858-4E67-BD88-59A03CEC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Caso inicial | 25 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F946C-9011-43AF-8674-FF3550AF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Andres recibe una alerta falsa del banco por WhatsApp. La respuesta segura es no entregar codigos y verificar por canales oficiales.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3AD63-CD73-4634-B7BF-6DF8DCD2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44D0-4F9B-4C3F-ABE4-F2E03B0C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BCDAB-1F34-476B-AFFD-57BC1AF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Inventario digital | 30 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DF6FA-26AC-4E5F-A237-A5650BF1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El estudiante identifica cuentas, dispositivos e informacion que forman parte de su vida digital.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9FACE-1785-44CB-893D-DA2E70F8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1BD01-6681-4AE5-B203-72E2BD5C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E37F9-2C6B-42D1-8959-1B77FE1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Evaluacion | 45 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24BBF-FC43-4F1D-9EFC-4811DF6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Cinco preguntas sobre ingenieria social, confidencialidad, phishing, alertas bancarias y mapa de proteccion.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6AF00-CB44-430D-9F55-277E7A67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429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C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4A0DD-19AD-4689-A4D4-2F9201F6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Resultado esperado: reconocer la importancia de la ciberseguridad e identificar amenazas que afectan cuentas, dispositivos, dinero, informacion, reputacion y familia.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30250-BD43-40AA-9EEE-61BA9BCC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02BA7-ECFB-4814-8E55-0FA39753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38335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A9318-8E0D-4CAB-935E-2219761D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0DE34-10FB-435A-87D3-E7656F0B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756f51709455e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F4BE4-B5A7-46E9-B950-D67D0036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7440D-AA90-4571-9902-2017D32C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OVA 2: tu cuenta principal es la puerta de 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4A783-442D-4A44-80A0-14B1614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Proteger el correo principal protege muchas otras cuentas.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0caac7953471e"/>
          <a:stretch xmlns:a="http://schemas.openxmlformats.org/drawingml/2006/main"/>
        </p:blipFill>
        <p:spPr>
          <a:xfrm xmlns:a="http://schemas.openxmlformats.org/drawingml/2006/main">
            <a:off x="8036132" y="1600200"/>
            <a:ext cx="2253837" cy="270510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797AB-3F2B-45A3-9A9F-51065806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58102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F308E-C014-4E36-97B0-E4A395B8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872B9-B992-4055-9326-C85F98B9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Por que importa el correo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F6340-6AA2-47D9-A5E5-10084B6C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5467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Permite recuperar redes sociales, banca digital, nube y plataformas educativas.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Si alguien lo toma, puede restablecer contrasenas de otros servicios.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Tambien puede suplantarte y escribir a tus contactos.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9933F-9C18-47A8-8A3D-C0A2990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9CB55-8801-42E6-A522-E0C6212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595F1-44C4-4D35-9339-A2914FE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Primera prioridad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CE295-3155-47AD-A0BF-DD2F566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Activar MFA y revisar recuperacion.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57DB8-8127-4402-B0BD-45A6313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053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33360-AFE7-4B31-843D-77F4FA4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053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C17B5-668B-4850-B488-05B26F5E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Segunda prioridad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81C1D-804E-4FF4-A991-8BEC8EEE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No reutilizar claves importantes.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27A54-4F86-49B3-8F28-283CD9D0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21B02-42F0-4C6E-AD9A-CD755361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9AEAE-AFCC-4602-B1E6-809E24B0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Tercera prioridad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0D91F-DCE7-4958-B6A6-46D159F9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Revisar dispositivos y apps conectadas.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3BEE0-4851-4D8F-B122-79A3812E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34E6F-B9DE-4E72-B8AD-9E92748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1745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7BBD0-3EDD-40AD-9121-ABB1F284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A95B2-3BF3-4430-B82F-5E8E8F5F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7543c0478417d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708BB-9A2A-4EAD-8DE0-98BD9CDD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32E60-E5C8-41CE-A3F3-6EBA31E5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Caso OVA 2: cuenta de Instagram tomada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769E6-DC96-43FD-8FF3-C65F5EE9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Una contrasena debil, sin MFA y un enlace falso pueden cerrar un negocio digital en horas.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B1EF6-1F2C-4826-8D61-1205CD8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E1DE6-AE81-40FA-9274-693E3724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063DC-D0D5-45A5-B02B-163116F3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Mensaje urgente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EBE32-D033-4861-86AC-31508EE3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Cuenta reportada. Verifica o sera eliminada.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00728-DDB0-41E1-9EE1-5988D6D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86129-6A04-42B3-A062-94F470B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A57F9-143B-4272-824D-DF737BC4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Enlace falso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AD04C-CCFA-44BB-BFA5-E7178B8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479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Ingresa usuario y contrasena en un sitio clonado.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9867B-4C83-4DE6-A5CE-9197B7C6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C8430-F68B-4046-8DAA-D5603324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525E4-965D-410D-B9A9-166B2FA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Toma de cuenta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717DC-5EA3-4624-9464-A4D80FEF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Cambian correo, telefono y clave.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F00A9-CFDC-4BA2-AB51-607A26F9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526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45BF1-6622-484D-B459-E17901A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526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91091-ADDD-4F5A-BF64-1A7E8F5E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05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Extorsion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04970-08FE-4F11-9FE6-310AD352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479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Piden dinero para devolver la cuenta.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002D8-1D87-479E-8A70-6DA56FD8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4667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3EA62-E6CA-42F6-BDD2-E6B47C7F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BCB5B-1AF7-425D-91CE-28402ED3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Errores detectados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7EB2B-EA0C-430B-978B-01856928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4324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Contrasena debil: valentina2020.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Sin MFA.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No verifico el enlace desde la app oficial.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Recuperacion alterna sin proteccion.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8C4EDE-6EF9-4233-95CE-5D4C46F9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4667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5715D-34E8-4CF2-BBCF-752A7158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D0952-5C9D-429B-89D1-9C8BC670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Respuesta segura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62E695-AE05-4AAD-B93B-390A019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324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Abrir la app oficial.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Revisar alertas internas.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Cambiar claves relacionadas.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Activar MFA y guardar codigos de respaldo.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8AB95-E967-4B50-8809-E0B20C79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82750-7901-4505-8D2B-1BC9E5D8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62106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6BF4C-98B8-4DB9-A927-494A2270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5755E-1DA6-42AC-8A7F-B99EA1C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9de86fa204901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6BC94-D8A7-4E40-A911-22044096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CD605-38ED-453F-A869-32A77008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Contrasenas: largas, unicas y sin datos personales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E422A-40E4-4A45-9646-24AACAF5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La regla ciudadana: mas longitud, menos repeticion y cero datos personales.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6DD02-0403-4E1D-9012-CC2CB0A3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3238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9CBB6-0416-40C9-92AF-20C8EFE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318E3-7F26-4E89-8F31-8C60985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Evitar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BA0BD-0C71-4B8C-9A50-47AAD4E9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895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123456, password, qwerty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nombre + ano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mascota, cedula o fecha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misma clave en varias cuentas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guardar claves en chats o fotos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2A3B9-978A-456F-9DF1-3A63D645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FE573-AF7A-4133-92AB-6D022A23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627F-4B7A-469F-87B7-DC1B84D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Preferir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20EE7-C0B5-4803-8094-9F58FB4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895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frase larga de varias palabras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simbolos y numeros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minimo 12 caracteres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una clave por servicio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sin datos personales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3162C-9492-4E74-AAC1-93CDBB81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238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FC4A5-B61C-4BF9-875D-F4229CDF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99E22-A21E-4375-809D-675458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669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Apoyarse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5F6E5-0EC2-4308-8D22-2DC30979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895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gestor de contrasenas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revision de claves filtradas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autocompletado en sitios legitimos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passkeys cuando esten disponibles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B7B20-B79F-420B-936E-BBA99E04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72000"/>
            <a:ext cx="82867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E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33F52-CD34-47EB-A2AA-12DC2DD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815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La OVA no pide escribir contrasenas reales: se trabaja con estructuras seguras, no con secretos personales.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20918-8831-4AFA-9830-BEB0113C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5928E-CEC2-453A-BDD3-20BE3042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6492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92266E-B754-437F-B3AE-D82FC56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6E8E8-7DDA-45F6-BEF4-0DC4C9A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51844ee214560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0CAF5-665E-4C85-A4E8-1801CA39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9F079-971D-41CE-9D9A-B800CF0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MFA, passkeys y codigos de verificacion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872BC-A5DA-4C60-9275-BD4A78D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Una segunda capa reduce el impacto si alguien obtiene tu contrasena.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3f89e7ea74be9"/>
          <a:stretch xmlns:a="http://schemas.openxmlformats.org/drawingml/2006/main"/>
        </p:blipFill>
        <p:spPr>
          <a:xfrm xmlns:a="http://schemas.openxmlformats.org/drawingml/2006/main">
            <a:off x="742950" y="1884449"/>
            <a:ext cx="2476500" cy="2403303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39499-8411-4C17-8206-D4661E4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38300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BD21-A48A-4C89-911B-C762F665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383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38E2C-EF9D-4381-B6FA-17389C13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SMS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2C831-7C4F-4EEB-A4C5-BB613C23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Mejor que no tener MFA, pero vulnerable a suplantacion de SIM o engano.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33041-61EB-4C5C-A9EC-C990417C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07499-54CE-4855-A232-04631455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58107-1726-4CE6-9B07-8FC2CAAE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90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App autenticadora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661A6-FC7B-4C71-805B-799AFA12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Genera codigos temporales. Nunca deben compartirse.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398FA-99A1-4D97-9106-3BAFA4E8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57550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F37BC-754C-4816-A947-74819E8B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575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77EB6-EB81-47C4-A455-75222D9C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099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Biometria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8EA14-9724-4510-A548-70AF675F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Huella o rostro para desbloquear acceso desde el dispositivo.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898F0-EBB4-4E20-83EB-9ACCCF2F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F2591-6066-4B47-ACF1-E37B6702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BF404-E06C-4A5D-8580-83BDD4AE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099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Llave o passkey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3AD8A-08F7-4BD1-B623-64CDDA9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52850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Opciones modernas y mas resistentes al phishing.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EA66F-DDFB-4347-86DE-B402966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53000"/>
            <a:ext cx="714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solidFill>
              <a:srgbClr val="F5C1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EB1A0-B2C9-43B2-AE67-207CCCEE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Prioridad: correo principal, banco, WhatsApp, Instagram/Facebook, plataforma educativa y nube.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D85C4F-E267-47FB-AC1B-1A0DCF6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13CFF-E99F-4C48-AB88-1D302CB5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8442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B97F5B-06F7-4CEF-8684-3F5FC5D9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E5700-98BF-4A41-8B5D-B61A55AE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4dcfefc1342b0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805B4-1D3D-4B92-B70D-30B9FD60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B1E32-9636-4E47-A61E-8E4D3336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Correo y redes sociales: verificar antes de actuar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E5461-6F12-49EB-A720-E94E8267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Los ataques aprovechan confianza, urgencia y exceso de informacion publica.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f9588db034c11"/>
          <a:stretch xmlns:a="http://schemas.openxmlformats.org/drawingml/2006/main"/>
        </p:blipFill>
        <p:spPr>
          <a:xfrm xmlns:a="http://schemas.openxmlformats.org/drawingml/2006/main">
            <a:off x="1063552" y="1714500"/>
            <a:ext cx="2616347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1397C-37FB-4671-BB8D-0E5D1E3C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D3928-A314-47EE-88B3-632D9968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550A3-C052-4847-B457-72EE688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Antes de hacer clic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488D-55C3-40A9-AC5A-3EA7200A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Revisa remitente real y dominio despues de @.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Desconfia de enlaces acortados o extranos.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No abras adjuntos inesperados.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Detecta urgencia, amenazas o premios.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No entregues claves ni codigos.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BE21F-5073-42C0-A112-E6D70D9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EC1EC-2036-4E87-827D-FAE13E29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BD124-5666-4A57-A98B-47D2AAD8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Privacidad en redes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32836-D08A-4780-AA8C-C453C74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2800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Controla quien ve publicaciones y amigos.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No publiques ubicacion en tiempo real.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No aceptes desconocidos sin revisar.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Revisa apps conectadas.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Activa MFA.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D974-0927-4513-8F58-79E215B0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CD9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C7570-195E-44BE-9CBB-87AC9D89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La informacion publicada puede usarse para mensajes personalizados, perfiles falsos o preguntas de recuperacion.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8379A-B8C3-4D91-82E3-6C5E18D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4DFF0-1F62-4C63-B120-E38E57BE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24168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42EC0D-855D-4196-8DE8-2CB26CCC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24EDA-A078-4375-9D1F-7482D742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5fc710ccc4c8e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71934-EE98-4275-9D18-69BD7C86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C791B-57E0-425D-BAF1-92269B16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Navegacion segura, dominios falsos y permisos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FAEF9-CA75-44EC-B97E-1E83436D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HTTPS ayuda, pero no basta: el dominio tambien debe ser el correcto.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1F3C0-AE4C-4F8E-84A8-0F633B5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9530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1C284-AE8A-4B2F-BF03-BBFC4F47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7C422-8F71-41C8-AEAA-50B2E611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Dominio legitimo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60598-310F-42A3-9AFE-77DF3F9F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4610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bancolombia.com.co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Revisar siempre la direccion completa, no solo el logo, color o candado.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56943-88FB-4BE2-B38F-503F72E1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49530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84C02-AC93-431D-A19C-10D83891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1B6F3-B1A2-4F42-9A3D-4B85C5AB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716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Dominios sospechosos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0EDB7-3756-4830-A570-E622B1B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4610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bancolombia-pagos.com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bancolombia.co.com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seguridad-bancolombia.xyz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bancolombia-verificacion.net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CF17D-9B7E-4865-9212-ED746AD3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238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3F118-E100-4847-A8D5-EFCC4A3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18D14-BC7D-4743-A010-A822A69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Permisos de apps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A7B38-E38C-4D88-B7FE-D7ECF93D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Una app debe pedir solo lo necesario para funcionar.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85F93-0EF0-4495-9187-288A3E18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3238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6CD1C-3BCE-4F65-8430-5A86823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B0E27-8EFB-43CF-909A-4F3DF4B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Ejemplo de alerta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563D6-5D26-4D0F-A07B-AEF77CF4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006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Una app de linterna no deberia pedir contactos, ubicacion, SMS o microfono.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213F3-216B-464C-8D24-F7850B72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3238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01A0C-FF32-48F5-94E0-F8C370F8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7F2FE-C7F8-4503-A71C-7EA95DFA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577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Limpieza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C28BC4-802F-469A-A59E-5EB67EDD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006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Elimina apps que no usas y revisa permisos periodicamente.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762AA-A39D-4D1A-AC67-12CD0A14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3C005C-9D11-44C5-B9FF-F4A2121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10356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D1DFD-FE02-4925-B4F4-C24DB0D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1D7A7-AF57-4149-BE23-26ECE79C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0d06448c1441c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D0718-1492-4ADA-AED3-8922B07C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BE621-F0BD-4F2D-94EA-946ED575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Auditoria express de mis cuentas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32770-B126-4486-816F-6AD4F3FC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Una actividad de OVA 2 para convertir la teoria en verificacion personal.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5F445-AD38-49EB-B6DD-92EB4D0E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279E8-175D-41FA-8A15-FD6D821B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EC9FA-FC3B-4812-94F2-F2F32722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0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Clave importante mayor a 12 caracteres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0CE65-DF99-44CF-A01E-93848683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EE266-E73F-4B48-B757-64F0BC7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7F4CB-886B-4731-9A7E-710F060E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reutilizar claves en cuentas criticas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BC05B-4CEE-40A8-9AB4-DC7017F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81F6C-5E3A-40D0-8ACF-DBEF811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67055-6CD9-43A6-903D-B3A0C348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MFA activo en al menos una cuenta critica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D5313-7373-4989-A5DA-CAD0E71A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D190E-6B80-466E-8708-7C82F6BC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9AB1C-6BF8-497C-9C22-45423062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compartir claves ni codigos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349D3-9290-4406-A31E-F11B207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8E3A3-30A9-4FCB-98F7-DBFA1026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3D737-1A40-41C4-802D-AC6664EC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43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Verificar remitentes antes de abrir correos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0B569-40FC-4518-A6FF-305BC60B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01BDE-C747-4031-B374-F02F9D7E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181C4-1AD0-4AF7-8167-EACDF509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Privacidad configurada en redes sociales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0EDE5-6608-4024-A8A9-C999D031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E20194-CEF6-44E3-93D8-AD0F7CA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9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D9CCA-1141-408B-B755-B28D2E1C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Revisar HTTPS, candado y dominio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BC35CF-68D8-41FF-B7BD-B1FA933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858E9-A424-4768-B3BD-D2DE01E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8A450-6421-4ECD-886E-BC438B23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Revisar permisos antes de instalar apps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60DAA-64C9-46E5-966A-AEA289CC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34000"/>
            <a:ext cx="89916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7FE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404AC-DB9F-45CD-861C-EF3A30A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67350"/>
            <a:ext cx="847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Mensaje: proteger cuentas no es una tarea de una sola vez; es un habito revisable.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93F0C9-25EE-4182-84DF-F879375D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B909A-1ED7-4430-98F7-83EA77A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41610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4394A-3655-424D-8261-657E7F4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83962-7F61-4719-8902-C9D32281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cc837a23842dd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3EFC-8124-4474-BEAD-DD9C8DA8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B1184-81AA-442D-ABC4-EA80E334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Actividad de cierre para clase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32844-A593-4CF3-8CC1-33C5D354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Propuesta de uso de la presentacion: 20 minutos de accion guiada.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D623C-DC5B-4974-B43E-9AF8B90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FADCE-79EE-439A-96F8-D12D250B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4B663-CD7E-40BD-BE7A-C383E88D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1. Identificar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A053C-C4BA-42C7-B25E-4A99F8F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038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Mi correo principal, banco, WhatsApp y red social critica.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46D60-871F-46A9-B77B-2E540B50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72ECF-4EA6-4083-90B9-159B5607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91A9E-BC4A-4D0E-AF53-F1F9D5CF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62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2. Verificar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68E7C-6010-4FC6-8092-68305C7F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2038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Tengo MFA? Mi recuperacion esta actualizada? Uso claves repetidas?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46370-A1BC-406F-AC09-A1A75C2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CAF85-D8B2-4A78-AB31-EF0A69F7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69702-D329-4E85-AAAB-79D650C3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3. Corregir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292E9-8C33-439E-8141-22F3DA0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2038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Cambiar una clave repetida y activar MFA en una cuenta.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3A32E-E2AD-41D0-AD43-F80E2501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95E5F-76A4-4B35-8CC6-657763FF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49FC5-6CC8-4FE9-B61A-82175E33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62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4. Registrar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2CE16-7110-482B-A515-BD9B18BB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05050"/>
            <a:ext cx="2038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Anotar una accion de mejora con fecha.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A5D4C-A9D7-4FAC-85E0-06A3CE3A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96774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C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8B282-5554-425C-B6CA-36C45223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Pregunta de salida: Que cambio puedo hacer hoy que reduzca el riesgo de perder mi cuenta mas importante?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38A39-2C80-47FA-8F53-BF9819F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6924F-3203-416C-B466-9ED3582A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86293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D7A66-C0B4-4BF8-89E0-B4B599B3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22536-5B5D-48CA-9666-DD58DA62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"/>
            <a:ext cx="2552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969B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98bfe588141f7"/>
          <a:stretch xmlns:a="http://schemas.openxmlformats.org/drawingml/2006/main"/>
        </p:blipFill>
        <p:spPr>
          <a:xfrm xmlns:a="http://schemas.openxmlformats.org/drawingml/2006/main">
            <a:off x="9467520" y="266700"/>
            <a:ext cx="1486561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E31D9-FD3A-48B0-983A-1C1662CE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87D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DA5"/>
                </a:solidFill>
                <a:latin typeface="Aptos"/>
                <a:ea typeface="Aptos"/>
                <a:cs typeface="Aptos"/>
              </a:rPr>
              <a:t>UNIDAD 1 | FUNDAMENTOS Y CIBERHIGIENE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EB841-0E5D-42D8-89D4-9D99BD41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Recursos opcionales y cierre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1026-4E51-4E7D-99A9-77BDFDDF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Estos recursos requieren internet y no son obligatorios para completar los SCORM.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F02A8-B5D9-479F-8C44-001D73BA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953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A836A-E2D5-479B-93C8-956214FC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E85CD-78E0-4820-8F59-299B4014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5F"/>
                </a:solidFill>
                <a:latin typeface="Aptos Display"/>
                <a:ea typeface="Aptos Display"/>
                <a:cs typeface="Aptos Display"/>
              </a:rPr>
              <a:t>Para seguir aprendiendo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1684E-498C-4050-8E8C-B9594648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46101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Google Cybersecurity Certificate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Foundations of Cybersecurity - Google/Coursera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NIST Cybersecurity Framework 2.0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Google Security Checkup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Google 2-Step Verification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Google Password Manager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• NIST SP 800-63B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C40EF-4F8E-4407-8C79-D32CCEEA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19100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7145F"/>
          </a:solidFill>
          <a:ln xmlns:a="http://schemas.openxmlformats.org/drawingml/2006/main" w="9525">
            <a:solidFill>
              <a:srgbClr val="071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58829-59B7-46BF-9E50-F1C3C4B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Cierre pedagogico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F90C4-849F-4400-A326-EEB8F65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ECFE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CFEFF"/>
                </a:solidFill>
                <a:latin typeface="Aptos"/>
                <a:ea typeface="Aptos"/>
                <a:cs typeface="Aptos"/>
              </a:rPr>
              <a:t>La mejor defensa no es saberlo todo, sino detenerse, observar y verificar antes de actuar. Si una cuenta es importante para tu vida, merece una proteccion fuerte.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00684-C4E8-499E-A4B8-D04C88B0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FE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53F97-8475-4E0F-B072-16FB9CD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794E"/>
                </a:solidFill>
                <a:latin typeface="Aptos Display"/>
                <a:ea typeface="Aptos Display"/>
                <a:cs typeface="Aptos Display"/>
              </a:rPr>
              <a:t>Siguiente paso: continuar con seguridad en dispositivos, WiFi, nube y copias de seguridad.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8A249-4D93-44EA-9B7E-FE2D07D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Curso interactivo de formacion en ciberseguridad | OVA 1 y OVA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E1571-5165-4343-9E9F-5AA31E52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DA5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19216026"/>
      </p:ext>
    </p:extLst>
  </p:cSld>
</p:sld>
</file>

<file path=ppt/theme/theme1.xml><?xml version="1.0" encoding="utf-8"?>
<a:theme xmlns:a="http://schemas.openxmlformats.org/drawingml/2006/main" name="ChatGPT">
  <a:themeElements>
    <a:clrScheme name="Ciberseguridad U1">
      <a:dk1>
        <a:srgbClr val="000000"/>
      </a:dk1>
      <a:lt1>
        <a:srgbClr val="FFFFFF"/>
      </a:lt1>
      <a:dk2>
        <a:srgbClr val="07145F"/>
      </a:dk2>
      <a:lt2>
        <a:srgbClr val="DCE4ED"/>
      </a:lt2>
      <a:accent1>
        <a:srgbClr val="087DA5"/>
      </a:accent1>
      <a:accent2>
        <a:srgbClr val="0969BA"/>
      </a:accent2>
      <a:accent3>
        <a:srgbClr val="F2A900"/>
      </a:accent3>
      <a:accent4>
        <a:srgbClr val="B42318"/>
      </a:accent4>
      <a:accent5>
        <a:srgbClr val="18794E"/>
      </a:accent5>
      <a:accent6>
        <a:srgbClr val="6941C6"/>
      </a:accent6>
      <a:hlink>
        <a:srgbClr val="0969BA"/>
      </a:hlink>
      <a:folHlink>
        <a:srgbClr val="6941C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iberseguridad U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2026-06-23T20:07:04.4830000Z</dcterms:created>
  <dcterms:modified xsi:type="dcterms:W3CDTF">2026-06-23T20:07:04.4830000Z</dcterms:modified>
</coreProperties>
</file>